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63" r:id="rId7"/>
    <p:sldId id="259" r:id="rId8"/>
    <p:sldId id="265" r:id="rId9"/>
    <p:sldId id="260" r:id="rId10"/>
    <p:sldId id="264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3B9BCE-9227-AE89-9943-03348847C4D3}" v="100" dt="2024-09-02T13:22:40.423"/>
    <p1510:client id="{91091765-1E62-AE05-BB44-2FD4DD8A80B8}" v="192" dt="2024-09-02T13:57:43.586"/>
    <p1510:client id="{9E00D13F-E25D-493A-BE7F-9E3BC15CB715}" v="4" dt="2024-09-01T18:16:48.519"/>
    <p1510:client id="{DC2CF1EE-756C-423F-B55B-7B3AE2B7E610}" v="1" dt="2024-09-02T07:48:12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3768E9-3168-42ED-0DA0-763230DB0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9670748-3A2A-4C54-C593-B480D0A8C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256AF90-64D8-AE58-CC0C-378936B54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B7DBF3-14E8-39CE-FF55-E5E67D2CE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3DD2A60-79DF-06A5-776D-0EAC5095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0577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361BC8-C2EA-4F0D-DA50-15F7CE38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EDABB88-AFDE-231D-B5EA-D23A57DE6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C002419-7D05-F0DA-F607-FA5C45B1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8E7EF2-EF13-D89F-6B68-8E732D64B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A6AB0EA-8A4E-1E26-FD11-CF43800A7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510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E0A933-34F7-3176-525A-7A497CC0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066C1F0-2589-AB5C-32AE-46C7FDB16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C91090-CAA6-539C-4627-15E47CD6F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E647CC-ADA9-68F1-9B6E-83A1D27C7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849F60-6F33-5D80-B65A-B0986DD11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0614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23059B-597E-E224-98FB-3B14516E0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CCF76CB-5716-C406-D786-9F0A62B47E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7A56C87-01C0-E729-A2D3-B36630E39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CD35483-42B5-70E6-C0B1-6FD139DD7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1160CA-2D64-EB34-40A1-2F0C8E535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10F4021-86D7-1F39-42B9-F236EFD81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411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F7CD319-FC85-794C-E9DB-420DED7D3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3258B7-5E62-2B22-B0F6-AFAB0DFC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D6F7039-C9AF-E499-C11D-B49029EF5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D619F11-EE06-FDE4-C8ED-BEF3BB6D3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4B255A4-B446-4511-E788-A8E4668E5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757FC05-2FF2-7070-C8A0-A65D37A54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4E8B72B-BD00-F6F3-01DD-1D67504A8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E68A82-3514-F73F-C0F6-D1BC81E36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734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43FD57-983A-8CF1-25B2-B529A91EB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99AAFF2-E7B3-7418-82AD-38C1B4719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FEF79BA-9A35-D535-6190-1684C1A7C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69AFF7E-9AB4-9896-3BE9-E1D90A8C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50128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51BFBEA-FC49-11B7-3D7A-49C788005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7114365-3FEC-39D8-DD0F-32BF2846E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18B763-B757-EDE1-D94A-0295AAF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7463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CA362BB-4D2B-BEAD-D305-EDB264F4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6A3DF2-AB05-C9AE-4556-0A1E18C91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35B690E-0423-2E5D-CAFD-1CF770360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4B9925F-AC0F-3B7F-8582-8D71CDB28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0962019-1ABB-9CEC-45CD-C9A6D8633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46DEDDC-FDA7-F1A7-86D3-6DF2B3ED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46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94A765-BCF6-72F2-97DE-70418BC4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E0F58886-4BF0-B236-2C39-53BD1CEC6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DF80E6A-CC1B-F94F-2410-C9A3D64C8F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ADD0F08-0881-A992-78B9-888153CFA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EF59D97-ACF4-D834-DF1B-0080003F2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1451ACE-3AEF-3406-8161-5B8217119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130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4B93D0-8B42-36D7-D48C-0A7567D3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D15C527-CBDF-B4F7-C26C-BDA11F35C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AEFF0-9CEB-CE65-E19E-7FE265544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48B3CE1-C087-2E90-AC1B-E70E05A82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454AD8-1076-76B9-71D6-C3A1048C3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6653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3581DD9E-304E-2061-0A9C-685372E62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4952F72-CBCB-03CD-AD1E-2DF080C9A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A74784-377B-5151-075F-82584B1B3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40C34B-A9E9-F7C5-F7B7-D8E07B225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F02898-613F-C66E-0E70-E12652A1A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74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3BDD6DE-BA80-F906-179D-E9BD3830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0B3EA6-2399-7D13-309D-B3989482F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13A117-1D16-E050-11A2-0D07A6C703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3D515-8563-4C3A-86A8-7F06002FBD9D}" type="datetimeFigureOut">
              <a:rPr lang="it-IT" smtClean="0"/>
              <a:t>02/09/2024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2B7289-EED0-2400-F792-FEC26DF08A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F44988-ED7F-9858-3266-BF2CD9B62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4832A0-229F-422A-8088-CF3C7EC49AF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6125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teo-figini/ds-queuing-syste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XEYuDwm7e4" TargetMode="External"/><Relationship Id="rId2" Type="http://schemas.openxmlformats.org/officeDocument/2006/relationships/hyperlink" Target="https://raft.github.io/raf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96C652-ADA6-7391-22C9-F72C0F85D8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Distributed Systems</a:t>
            </a:r>
            <a:br>
              <a:rPr lang="it-IT" dirty="0"/>
            </a:br>
            <a:r>
              <a:rPr lang="it-IT" sz="5000" dirty="0" err="1"/>
              <a:t>Reliable</a:t>
            </a:r>
            <a:r>
              <a:rPr lang="it-IT" sz="5000" dirty="0"/>
              <a:t> </a:t>
            </a:r>
            <a:r>
              <a:rPr lang="it-IT" sz="5000" dirty="0" err="1"/>
              <a:t>Queueing</a:t>
            </a:r>
            <a:r>
              <a:rPr lang="it-IT" sz="5000" dirty="0"/>
              <a:t> Platform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FA1C5A2-C1BD-76D9-9BFA-D3B49CB70C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A. Y. 2023/2024</a:t>
            </a:r>
          </a:p>
          <a:p>
            <a:r>
              <a:rPr lang="it-IT" dirty="0"/>
              <a:t>Project </a:t>
            </a:r>
            <a:r>
              <a:rPr lang="it-IT" dirty="0" err="1"/>
              <a:t>developed</a:t>
            </a:r>
            <a:r>
              <a:rPr lang="it-IT" dirty="0"/>
              <a:t> by Matteo Figini and Fabrizio Monti</a:t>
            </a:r>
          </a:p>
          <a:p>
            <a:r>
              <a:rPr lang="it-IT" dirty="0">
                <a:hlinkClick r:id="rId2"/>
              </a:rPr>
              <a:t>https://github.com/matteo-figini/ds-queuing-system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255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900841-E30C-E42A-B898-64E5AF445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Project goal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C312E1-F93C-5489-7667-3C5B065E7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 implement a distributed and reliable queuing platform where a set of brokers collaborate to offer multiple queues to multiple clients.</a:t>
            </a:r>
          </a:p>
          <a:p>
            <a:r>
              <a:rPr lang="en-US" dirty="0"/>
              <a:t>Queues are persistent, append only, FIFO data structures.</a:t>
            </a:r>
          </a:p>
          <a:p>
            <a:r>
              <a:rPr lang="en-US" dirty="0"/>
              <a:t>Multiple (not necessarily every) brokers replicate the data of queues to guarantee fault tolerance and high availability in case one of them crashes</a:t>
            </a:r>
          </a:p>
          <a:p>
            <a:r>
              <a:rPr lang="en-US" dirty="0"/>
              <a:t>Clients connect to brokers to create new queues, append new data (integer values) on an existing queue, or read data from a queue. </a:t>
            </a:r>
          </a:p>
          <a:p>
            <a:r>
              <a:rPr lang="en-US" dirty="0"/>
              <a:t>Each client is uniquely identified and the brokers are responsible for keeping track of the next data element each client should read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4356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CE6FFC-E930-5699-6D3F-E9AB42E93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Assumptions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F4CD979-D098-D3EB-D1D5-1EEC4604B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Links are assumed to be reliable, while nodes (brokers) may fail (crash failures)</a:t>
            </a:r>
          </a:p>
          <a:p>
            <a:r>
              <a:rPr lang="en-US" dirty="0"/>
              <a:t>Nodes running brokers holds a stable storage (the file system) that can be assumed to be reliable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8166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AF63B1-0376-D964-B5B4-41225DC8E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locator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AB1BDD-EAB4-0824-441C-A7023854D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The first </a:t>
            </a:r>
            <a:r>
              <a:rPr lang="it-IT" dirty="0" err="1"/>
              <a:t>element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initialized</a:t>
            </a:r>
            <a:r>
              <a:rPr lang="it-IT" dirty="0"/>
              <a:t> in the network </a:t>
            </a:r>
            <a:r>
              <a:rPr lang="it-IT" dirty="0" err="1"/>
              <a:t>is</a:t>
            </a:r>
            <a:r>
              <a:rPr lang="it-IT" dirty="0"/>
              <a:t> the Locator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keeping track of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connected</a:t>
            </a:r>
            <a:r>
              <a:rPr lang="it-IT" dirty="0"/>
              <a:t> </a:t>
            </a:r>
            <a:r>
              <a:rPr lang="it-IT" dirty="0" err="1"/>
              <a:t>nodes</a:t>
            </a:r>
            <a:r>
              <a:rPr lang="it-IT" dirty="0"/>
              <a:t> (brokers &amp; clients), and to </a:t>
            </a:r>
            <a:r>
              <a:rPr lang="it-IT" dirty="0" err="1"/>
              <a:t>provide</a:t>
            </a:r>
            <a:r>
              <a:rPr lang="it-IT" dirty="0"/>
              <a:t> (limited) support for network utilities, e.g.:</a:t>
            </a:r>
          </a:p>
          <a:p>
            <a:pPr lvl="1"/>
            <a:r>
              <a:rPr lang="it-IT" dirty="0"/>
              <a:t>A broker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connect</a:t>
            </a:r>
            <a:r>
              <a:rPr lang="it-IT" dirty="0"/>
              <a:t> to the </a:t>
            </a:r>
            <a:r>
              <a:rPr lang="it-IT" dirty="0" err="1"/>
              <a:t>other</a:t>
            </a:r>
            <a:r>
              <a:rPr lang="it-IT" dirty="0"/>
              <a:t> ready brokers </a:t>
            </a:r>
            <a:r>
              <a:rPr lang="it-IT" dirty="0">
                <a:sym typeface="Wingdings" panose="05000000000000000000" pitchFamily="2" charset="2"/>
              </a:rPr>
              <a:t> locator </a:t>
            </a:r>
            <a:r>
              <a:rPr lang="it-IT" dirty="0" err="1">
                <a:sym typeface="Wingdings" panose="05000000000000000000" pitchFamily="2" charset="2"/>
              </a:rPr>
              <a:t>provides</a:t>
            </a:r>
            <a:r>
              <a:rPr lang="it-IT" dirty="0">
                <a:sym typeface="Wingdings" panose="05000000000000000000" pitchFamily="2" charset="2"/>
              </a:rPr>
              <a:t> the list of brokers</a:t>
            </a:r>
            <a:endParaRPr lang="it-IT" dirty="0"/>
          </a:p>
          <a:p>
            <a:pPr lvl="1"/>
            <a:r>
              <a:rPr lang="it-IT" dirty="0"/>
              <a:t>A client </a:t>
            </a:r>
            <a:r>
              <a:rPr lang="it-IT" dirty="0" err="1"/>
              <a:t>should</a:t>
            </a:r>
            <a:r>
              <a:rPr lang="it-IT" dirty="0"/>
              <a:t> know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brokers’ leader </a:t>
            </a:r>
            <a:r>
              <a:rPr lang="it-IT" dirty="0">
                <a:sym typeface="Wingdings" panose="05000000000000000000" pitchFamily="2" charset="2"/>
              </a:rPr>
              <a:t> locator </a:t>
            </a:r>
            <a:r>
              <a:rPr lang="it-IT" dirty="0" err="1">
                <a:sym typeface="Wingdings" panose="05000000000000000000" pitchFamily="2" charset="2"/>
              </a:rPr>
              <a:t>provides</a:t>
            </a:r>
            <a:r>
              <a:rPr lang="it-IT" dirty="0">
                <a:sym typeface="Wingdings" panose="05000000000000000000" pitchFamily="2" charset="2"/>
              </a:rPr>
              <a:t> the </a:t>
            </a:r>
            <a:r>
              <a:rPr lang="it-IT" dirty="0" err="1">
                <a:sym typeface="Wingdings" panose="05000000000000000000" pitchFamily="2" charset="2"/>
              </a:rPr>
              <a:t>reference</a:t>
            </a:r>
            <a:r>
              <a:rPr lang="it-IT" dirty="0">
                <a:sym typeface="Wingdings" panose="05000000000000000000" pitchFamily="2" charset="2"/>
              </a:rPr>
              <a:t> to the leader</a:t>
            </a:r>
            <a:endParaRPr lang="it-IT" dirty="0"/>
          </a:p>
          <a:p>
            <a:r>
              <a:rPr lang="it-IT" dirty="0"/>
              <a:t>Due to the </a:t>
            </a:r>
            <a:r>
              <a:rPr lang="it-IT" dirty="0" err="1"/>
              <a:t>very</a:t>
            </a:r>
            <a:r>
              <a:rPr lang="it-IT" dirty="0"/>
              <a:t> limited </a:t>
            </a:r>
            <a:r>
              <a:rPr lang="it-IT" dirty="0" err="1"/>
              <a:t>functionalities</a:t>
            </a:r>
            <a:r>
              <a:rPr lang="it-IT" dirty="0"/>
              <a:t> of the locator and the </a:t>
            </a:r>
            <a:r>
              <a:rPr lang="it-IT" dirty="0" err="1"/>
              <a:t>lack</a:t>
            </a:r>
            <a:r>
              <a:rPr lang="it-IT" dirty="0"/>
              <a:t> of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logic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assume </a:t>
            </a:r>
            <a:r>
              <a:rPr lang="it-IT" dirty="0" err="1"/>
              <a:t>it</a:t>
            </a:r>
            <a:r>
              <a:rPr lang="it-IT" dirty="0"/>
              <a:t> to be the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reliable</a:t>
            </a:r>
            <a:r>
              <a:rPr lang="it-IT" dirty="0"/>
              <a:t> </a:t>
            </a:r>
            <a:r>
              <a:rPr lang="it-IT" dirty="0" err="1"/>
              <a:t>element</a:t>
            </a:r>
            <a:r>
              <a:rPr lang="it-IT" dirty="0"/>
              <a:t> of </a:t>
            </a:r>
            <a:r>
              <a:rPr lang="it-IT" dirty="0" err="1"/>
              <a:t>our</a:t>
            </a:r>
            <a:r>
              <a:rPr lang="it-IT" dirty="0"/>
              <a:t> network.</a:t>
            </a:r>
          </a:p>
        </p:txBody>
      </p:sp>
    </p:spTree>
    <p:extLst>
      <p:ext uri="{BB962C8B-B14F-4D97-AF65-F5344CB8AC3E}">
        <p14:creationId xmlns:p14="http://schemas.microsoft.com/office/powerpoint/2010/main" val="3809716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3F0D173-7BE2-71C4-B989-A651F1608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brokers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D8EB6590-07D2-E9BF-A9C2-EB2BD7400F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dirty="0"/>
              <a:t>Brokers </a:t>
            </a:r>
            <a:r>
              <a:rPr lang="it-IT" dirty="0" err="1"/>
              <a:t>connect</a:t>
            </a:r>
            <a:r>
              <a:rPr lang="it-IT" dirty="0"/>
              <a:t> first to the locator, to be part of the network,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(</a:t>
            </a:r>
            <a:r>
              <a:rPr lang="it-IT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NetDiscoveryRequestMessage</a:t>
            </a:r>
            <a:r>
              <a:rPr lang="it-IT" dirty="0"/>
              <a:t>) to know </a:t>
            </a:r>
            <a:r>
              <a:rPr lang="it-IT" dirty="0" err="1"/>
              <a:t>whether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 brokers are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connected</a:t>
            </a:r>
            <a:endParaRPr lang="it-IT" dirty="0"/>
          </a:p>
          <a:p>
            <a:r>
              <a:rPr lang="it-IT" dirty="0" err="1"/>
              <a:t>Every</a:t>
            </a:r>
            <a:r>
              <a:rPr lang="it-IT" dirty="0"/>
              <a:t> broker can act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client and </a:t>
            </a:r>
            <a:r>
              <a:rPr lang="it-IT" dirty="0" err="1"/>
              <a:t>as</a:t>
            </a:r>
            <a:r>
              <a:rPr lang="it-IT" dirty="0"/>
              <a:t> server to </a:t>
            </a:r>
            <a:r>
              <a:rPr lang="it-IT" dirty="0" err="1"/>
              <a:t>other</a:t>
            </a:r>
            <a:r>
              <a:rPr lang="it-IT" dirty="0"/>
              <a:t> brokers:</a:t>
            </a:r>
          </a:p>
          <a:p>
            <a:pPr lvl="1"/>
            <a:r>
              <a:rPr lang="it-IT" dirty="0"/>
              <a:t>A broker acts </a:t>
            </a:r>
            <a:r>
              <a:rPr lang="it-IT" dirty="0" err="1"/>
              <a:t>as</a:t>
            </a:r>
            <a:r>
              <a:rPr lang="it-IT" dirty="0"/>
              <a:t> a client w.r.t.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other</a:t>
            </a:r>
            <a:r>
              <a:rPr lang="it-IT" dirty="0"/>
              <a:t> brokers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connected</a:t>
            </a:r>
            <a:endParaRPr lang="it-IT" dirty="0"/>
          </a:p>
          <a:p>
            <a:pPr lvl="1"/>
            <a:r>
              <a:rPr lang="it-IT" dirty="0"/>
              <a:t>A broker acts </a:t>
            </a:r>
            <a:r>
              <a:rPr lang="it-IT" dirty="0" err="1"/>
              <a:t>as</a:t>
            </a:r>
            <a:r>
              <a:rPr lang="it-IT" dirty="0"/>
              <a:t> a server w.r.t.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other</a:t>
            </a:r>
            <a:r>
              <a:rPr lang="it-IT" dirty="0"/>
              <a:t> brokers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connect</a:t>
            </a:r>
            <a:r>
              <a:rPr lang="it-IT" dirty="0"/>
              <a:t> </a:t>
            </a:r>
            <a:r>
              <a:rPr lang="it-IT" dirty="0" err="1"/>
              <a:t>afterwards</a:t>
            </a:r>
            <a:endParaRPr lang="it-IT" dirty="0"/>
          </a:p>
          <a:p>
            <a:pPr lvl="1"/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are </a:t>
            </a:r>
            <a:r>
              <a:rPr lang="it-IT" dirty="0" err="1"/>
              <a:t>exchanged</a:t>
            </a:r>
            <a:r>
              <a:rPr lang="it-IT" dirty="0"/>
              <a:t> </a:t>
            </a:r>
            <a:r>
              <a:rPr lang="it-IT" u="sng" dirty="0" err="1"/>
              <a:t>directly</a:t>
            </a:r>
            <a:r>
              <a:rPr lang="it-IT" u="sng" dirty="0"/>
              <a:t> </a:t>
            </a:r>
            <a:r>
              <a:rPr lang="it-IT" u="sng" dirty="0" err="1"/>
              <a:t>among</a:t>
            </a:r>
            <a:r>
              <a:rPr lang="it-IT" u="sng" dirty="0"/>
              <a:t> brokers</a:t>
            </a:r>
            <a:r>
              <a:rPr lang="it-IT" dirty="0"/>
              <a:t>, (i.e. </a:t>
            </a:r>
            <a:r>
              <a:rPr lang="it-IT" dirty="0" err="1"/>
              <a:t>without</a:t>
            </a:r>
            <a:r>
              <a:rPr lang="it-IT" dirty="0"/>
              <a:t> the help of the locator)</a:t>
            </a:r>
          </a:p>
        </p:txBody>
      </p:sp>
      <p:pic>
        <p:nvPicPr>
          <p:cNvPr id="17" name="Segnaposto contenuto 1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A6A849E8-5142-F4AA-5413-48AB769F2A7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031" y="1690689"/>
            <a:ext cx="5618697" cy="4395480"/>
          </a:xfrm>
        </p:spPr>
      </p:pic>
    </p:spTree>
    <p:extLst>
      <p:ext uri="{BB962C8B-B14F-4D97-AF65-F5344CB8AC3E}">
        <p14:creationId xmlns:p14="http://schemas.microsoft.com/office/powerpoint/2010/main" val="223132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A0025B-C424-C5CE-2B50-8DB9CBB57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Network </a:t>
            </a:r>
            <a:r>
              <a:rPr lang="it-IT" dirty="0" err="1"/>
              <a:t>architecture</a:t>
            </a:r>
            <a:r>
              <a:rPr lang="it-IT" dirty="0"/>
              <a:t>: client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202917-0856-8C70-20AA-A22898EB62E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Brokers </a:t>
            </a:r>
            <a:r>
              <a:rPr lang="it-IT" dirty="0" err="1"/>
              <a:t>connect</a:t>
            </a:r>
            <a:r>
              <a:rPr lang="it-IT" dirty="0"/>
              <a:t> first to the locator, to be part of the network,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(</a:t>
            </a:r>
            <a:r>
              <a:rPr lang="it-IT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LeaderDiscoveryRequest</a:t>
            </a:r>
            <a:r>
              <a:rPr lang="it-IT" dirty="0"/>
              <a:t>) to know </a:t>
            </a:r>
            <a:r>
              <a:rPr lang="it-IT" dirty="0" err="1"/>
              <a:t>who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brokers’ leader,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responsible</a:t>
            </a:r>
            <a:r>
              <a:rPr lang="it-IT" dirty="0"/>
              <a:t> for the </a:t>
            </a:r>
            <a:r>
              <a:rPr lang="it-IT" dirty="0" err="1"/>
              <a:t>communication</a:t>
            </a:r>
            <a:r>
              <a:rPr lang="it-IT" dirty="0"/>
              <a:t> with the clients.</a:t>
            </a:r>
          </a:p>
          <a:p>
            <a:r>
              <a:rPr lang="it-IT" dirty="0"/>
              <a:t>Clients </a:t>
            </a:r>
            <a:r>
              <a:rPr lang="it-IT" dirty="0" err="1"/>
              <a:t>send</a:t>
            </a:r>
            <a:r>
              <a:rPr lang="it-IT" dirty="0"/>
              <a:t> </a:t>
            </a:r>
            <a:r>
              <a:rPr lang="it-IT" dirty="0" err="1"/>
              <a:t>application</a:t>
            </a:r>
            <a:r>
              <a:rPr lang="it-IT" dirty="0"/>
              <a:t> </a:t>
            </a:r>
            <a:r>
              <a:rPr lang="it-IT" dirty="0" err="1"/>
              <a:t>messages</a:t>
            </a:r>
            <a:r>
              <a:rPr lang="it-IT" dirty="0"/>
              <a:t> </a:t>
            </a:r>
            <a:r>
              <a:rPr lang="it-IT" dirty="0" err="1"/>
              <a:t>directly</a:t>
            </a:r>
            <a:r>
              <a:rPr lang="it-IT" dirty="0"/>
              <a:t> to the leader,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contact the locator in case of </a:t>
            </a:r>
            <a:r>
              <a:rPr lang="it-IT" dirty="0" err="1"/>
              <a:t>exceptional</a:t>
            </a:r>
            <a:r>
              <a:rPr lang="it-IT" dirty="0"/>
              <a:t> situations (i.e. leader </a:t>
            </a:r>
            <a:r>
              <a:rPr lang="it-IT" dirty="0" err="1"/>
              <a:t>disconnected</a:t>
            </a:r>
            <a:r>
              <a:rPr lang="it-IT" dirty="0"/>
              <a:t>)</a:t>
            </a:r>
          </a:p>
          <a:p>
            <a:endParaRPr lang="it-IT" dirty="0"/>
          </a:p>
        </p:txBody>
      </p:sp>
      <p:pic>
        <p:nvPicPr>
          <p:cNvPr id="6" name="Segnaposto contenuto 5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B3A92B76-4F6D-6D56-0085-86A406E797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547" y="1690688"/>
            <a:ext cx="5599402" cy="4300340"/>
          </a:xfrm>
        </p:spPr>
      </p:pic>
    </p:spTree>
    <p:extLst>
      <p:ext uri="{BB962C8B-B14F-4D97-AF65-F5344CB8AC3E}">
        <p14:creationId xmlns:p14="http://schemas.microsoft.com/office/powerpoint/2010/main" val="4172879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097002-9219-47E7-5AAC-E6278D14C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(</a:t>
            </a:r>
            <a:r>
              <a:rPr lang="it-IT" dirty="0" err="1"/>
              <a:t>Modified</a:t>
            </a:r>
            <a:r>
              <a:rPr lang="it-IT" dirty="0"/>
              <a:t>) Raft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E839F18-6640-632C-4C99-22B2A4BEA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/>
              <a:t>To </a:t>
            </a:r>
            <a:r>
              <a:rPr lang="it-IT" dirty="0" err="1"/>
              <a:t>provide</a:t>
            </a:r>
            <a:r>
              <a:rPr lang="it-IT" dirty="0"/>
              <a:t> </a:t>
            </a:r>
            <a:r>
              <a:rPr lang="it-IT" dirty="0" err="1"/>
              <a:t>consistency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brokers </a:t>
            </a:r>
            <a:r>
              <a:rPr lang="it-IT" dirty="0" err="1"/>
              <a:t>while</a:t>
            </a:r>
            <a:r>
              <a:rPr lang="it-IT" dirty="0"/>
              <a:t> </a:t>
            </a:r>
            <a:r>
              <a:rPr lang="it-IT" dirty="0" err="1"/>
              <a:t>maintaining</a:t>
            </a:r>
            <a:r>
              <a:rPr lang="it-IT" dirty="0"/>
              <a:t> fault </a:t>
            </a:r>
            <a:r>
              <a:rPr lang="it-IT" dirty="0" err="1"/>
              <a:t>tolerance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implemented</a:t>
            </a:r>
            <a:r>
              <a:rPr lang="it-IT" dirty="0"/>
              <a:t> a </a:t>
            </a:r>
            <a:r>
              <a:rPr lang="it-IT" dirty="0" err="1"/>
              <a:t>slightly</a:t>
            </a:r>
            <a:r>
              <a:rPr lang="it-IT" dirty="0"/>
              <a:t> </a:t>
            </a:r>
            <a:r>
              <a:rPr lang="it-IT" dirty="0" err="1"/>
              <a:t>changed</a:t>
            </a:r>
            <a:r>
              <a:rPr lang="it-IT" dirty="0"/>
              <a:t> </a:t>
            </a:r>
            <a:r>
              <a:rPr lang="it-IT" dirty="0" err="1"/>
              <a:t>version</a:t>
            </a:r>
            <a:r>
              <a:rPr lang="it-IT" dirty="0"/>
              <a:t> of the Raft </a:t>
            </a:r>
            <a:r>
              <a:rPr lang="it-IT" dirty="0" err="1"/>
              <a:t>protocol</a:t>
            </a:r>
            <a:r>
              <a:rPr lang="it-IT" dirty="0"/>
              <a:t> to the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brokers.</a:t>
            </a:r>
          </a:p>
          <a:p>
            <a:r>
              <a:rPr lang="it-IT" dirty="0" err="1"/>
              <a:t>Specifically</a:t>
            </a:r>
            <a:r>
              <a:rPr lang="it-IT" dirty="0"/>
              <a:t>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removed</a:t>
            </a:r>
            <a:r>
              <a:rPr lang="it-IT" dirty="0"/>
              <a:t> the </a:t>
            </a:r>
            <a:r>
              <a:rPr lang="it-IT" dirty="0" err="1"/>
              <a:t>heartbeat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brokers in </a:t>
            </a:r>
            <a:r>
              <a:rPr lang="it-IT" dirty="0" err="1"/>
              <a:t>favour</a:t>
            </a:r>
            <a:r>
              <a:rPr lang="it-IT" dirty="0"/>
              <a:t> of </a:t>
            </a:r>
            <a:r>
              <a:rPr lang="it-IT" dirty="0" err="1"/>
              <a:t>directly</a:t>
            </a:r>
            <a:r>
              <a:rPr lang="it-IT" dirty="0"/>
              <a:t> </a:t>
            </a:r>
            <a:r>
              <a:rPr lang="it-IT" dirty="0" err="1"/>
              <a:t>listening</a:t>
            </a:r>
            <a:r>
              <a:rPr lang="it-IT" dirty="0"/>
              <a:t> on the </a:t>
            </a:r>
            <a:r>
              <a:rPr lang="it-IT" dirty="0" err="1"/>
              <a:t>socket</a:t>
            </a:r>
            <a:r>
              <a:rPr lang="it-IT" dirty="0"/>
              <a:t> </a:t>
            </a:r>
            <a:r>
              <a:rPr lang="it-IT" dirty="0" err="1"/>
              <a:t>disconnection</a:t>
            </a:r>
            <a:r>
              <a:rPr lang="it-IT" dirty="0"/>
              <a:t> events, to </a:t>
            </a:r>
            <a:r>
              <a:rPr lang="it-IT" dirty="0" err="1"/>
              <a:t>simplify</a:t>
            </a:r>
            <a:r>
              <a:rPr lang="it-IT" dirty="0"/>
              <a:t> the </a:t>
            </a:r>
            <a:r>
              <a:rPr lang="it-IT" dirty="0" err="1"/>
              <a:t>communication</a:t>
            </a:r>
            <a:r>
              <a:rPr lang="it-IT" dirty="0"/>
              <a:t> </a:t>
            </a:r>
            <a:r>
              <a:rPr lang="it-IT" dirty="0" err="1"/>
              <a:t>among</a:t>
            </a:r>
            <a:r>
              <a:rPr lang="it-IT" dirty="0"/>
              <a:t> the brokers and to reduce the </a:t>
            </a:r>
            <a:r>
              <a:rPr lang="it-IT" dirty="0" err="1"/>
              <a:t>traffic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56629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C42C73-27A1-6C19-A4DF-E6C050EF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Application features	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AE885A-C0BC-F2A9-6F2B-12CF185EA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it-IT" dirty="0">
                <a:ea typeface="+mn-lt"/>
                <a:cs typeface="+mn-lt"/>
              </a:rPr>
              <a:t>Log </a:t>
            </a:r>
            <a:r>
              <a:rPr lang="it-IT" dirty="0" err="1">
                <a:ea typeface="+mn-lt"/>
                <a:cs typeface="+mn-lt"/>
              </a:rPr>
              <a:t>structure</a:t>
            </a:r>
            <a:r>
              <a:rPr lang="it-IT" dirty="0">
                <a:ea typeface="+mn-lt"/>
                <a:cs typeface="+mn-lt"/>
              </a:rPr>
              <a:t>: </a:t>
            </a:r>
            <a:r>
              <a:rPr lang="it-IT" dirty="0" err="1">
                <a:ea typeface="+mn-lt"/>
                <a:cs typeface="+mn-lt"/>
              </a:rPr>
              <a:t>Individual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operations</a:t>
            </a:r>
            <a:r>
              <a:rPr lang="it-IT" dirty="0">
                <a:ea typeface="+mn-lt"/>
                <a:cs typeface="+mn-lt"/>
              </a:rPr>
              <a:t> (</a:t>
            </a:r>
            <a:r>
              <a:rPr lang="it-IT" dirty="0" err="1">
                <a:ea typeface="+mn-lt"/>
                <a:cs typeface="+mn-lt"/>
              </a:rPr>
              <a:t>read</a:t>
            </a:r>
            <a:r>
              <a:rPr lang="it-IT" dirty="0">
                <a:ea typeface="+mn-lt"/>
                <a:cs typeface="+mn-lt"/>
              </a:rPr>
              <a:t>/</a:t>
            </a:r>
            <a:r>
              <a:rPr lang="it-IT" dirty="0" err="1">
                <a:ea typeface="+mn-lt"/>
                <a:cs typeface="+mn-lt"/>
              </a:rPr>
              <a:t>append</a:t>
            </a:r>
            <a:r>
              <a:rPr lang="it-IT" dirty="0">
                <a:ea typeface="+mn-lt"/>
                <a:cs typeface="+mn-lt"/>
              </a:rPr>
              <a:t>/create) are </a:t>
            </a:r>
            <a:r>
              <a:rPr lang="it-IT" dirty="0" err="1">
                <a:ea typeface="+mn-lt"/>
                <a:cs typeface="+mn-lt"/>
              </a:rPr>
              <a:t>stored</a:t>
            </a:r>
            <a:r>
              <a:rPr lang="it-IT" dirty="0">
                <a:ea typeface="+mn-lt"/>
                <a:cs typeface="+mn-lt"/>
              </a:rPr>
              <a:t> in </a:t>
            </a:r>
            <a:r>
              <a:rPr lang="it-IT" dirty="0" err="1">
                <a:ea typeface="+mn-lt"/>
                <a:cs typeface="+mn-lt"/>
              </a:rPr>
              <a:t>Raft's</a:t>
            </a:r>
            <a:r>
              <a:rPr lang="it-IT" dirty="0">
                <a:ea typeface="+mn-lt"/>
                <a:cs typeface="+mn-lt"/>
              </a:rPr>
              <a:t> log. After a crash, </a:t>
            </a:r>
            <a:r>
              <a:rPr lang="it-IT" dirty="0" err="1">
                <a:ea typeface="+mn-lt"/>
                <a:cs typeface="+mn-lt"/>
              </a:rPr>
              <a:t>nodes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reconstruct</a:t>
            </a:r>
            <a:r>
              <a:rPr lang="it-IT" dirty="0">
                <a:ea typeface="+mn-lt"/>
                <a:cs typeface="+mn-lt"/>
              </a:rPr>
              <a:t> the </a:t>
            </a:r>
            <a:r>
              <a:rPr lang="it-IT" dirty="0" err="1">
                <a:ea typeface="+mn-lt"/>
                <a:cs typeface="+mn-lt"/>
              </a:rPr>
              <a:t>queues</a:t>
            </a:r>
            <a:r>
              <a:rPr lang="it-IT" dirty="0">
                <a:ea typeface="+mn-lt"/>
                <a:cs typeface="+mn-lt"/>
              </a:rPr>
              <a:t> by </a:t>
            </a:r>
            <a:r>
              <a:rPr lang="it-IT" dirty="0" err="1">
                <a:ea typeface="+mn-lt"/>
                <a:cs typeface="+mn-lt"/>
              </a:rPr>
              <a:t>replaying</a:t>
            </a:r>
            <a:r>
              <a:rPr lang="it-IT" dirty="0">
                <a:ea typeface="+mn-lt"/>
                <a:cs typeface="+mn-lt"/>
              </a:rPr>
              <a:t> the </a:t>
            </a:r>
            <a:r>
              <a:rPr lang="it-IT" dirty="0" err="1">
                <a:ea typeface="+mn-lt"/>
                <a:cs typeface="+mn-lt"/>
              </a:rPr>
              <a:t>operations</a:t>
            </a:r>
            <a:r>
              <a:rPr lang="it-IT" dirty="0">
                <a:ea typeface="+mn-lt"/>
                <a:cs typeface="+mn-lt"/>
              </a:rPr>
              <a:t>.</a:t>
            </a:r>
            <a:endParaRPr lang="it-IT" dirty="0"/>
          </a:p>
          <a:p>
            <a:r>
              <a:rPr lang="it-IT" dirty="0">
                <a:ea typeface="+mn-lt"/>
                <a:cs typeface="+mn-lt"/>
              </a:rPr>
              <a:t>Client </a:t>
            </a:r>
            <a:r>
              <a:rPr lang="it-IT" dirty="0" err="1">
                <a:ea typeface="+mn-lt"/>
                <a:cs typeface="+mn-lt"/>
              </a:rPr>
              <a:t>awareness</a:t>
            </a:r>
            <a:r>
              <a:rPr lang="it-IT" dirty="0">
                <a:ea typeface="+mn-lt"/>
                <a:cs typeface="+mn-lt"/>
              </a:rPr>
              <a:t>: Clients can </a:t>
            </a:r>
            <a:r>
              <a:rPr lang="it-IT" dirty="0" err="1">
                <a:ea typeface="+mn-lt"/>
                <a:cs typeface="+mn-lt"/>
              </a:rPr>
              <a:t>detect</a:t>
            </a:r>
            <a:r>
              <a:rPr lang="it-IT" dirty="0">
                <a:ea typeface="+mn-lt"/>
                <a:cs typeface="+mn-lt"/>
              </a:rPr>
              <a:t> leader </a:t>
            </a:r>
            <a:r>
              <a:rPr lang="it-IT" dirty="0" err="1">
                <a:ea typeface="+mn-lt"/>
                <a:cs typeface="+mn-lt"/>
              </a:rPr>
              <a:t>failures</a:t>
            </a:r>
            <a:r>
              <a:rPr lang="it-IT" dirty="0">
                <a:ea typeface="+mn-lt"/>
                <a:cs typeface="+mn-lt"/>
              </a:rPr>
              <a:t> (via </a:t>
            </a:r>
            <a:r>
              <a:rPr lang="it-IT" dirty="0" err="1">
                <a:ea typeface="+mn-lt"/>
                <a:cs typeface="+mn-lt"/>
              </a:rPr>
              <a:t>socket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disconnection</a:t>
            </a:r>
            <a:r>
              <a:rPr lang="it-IT" dirty="0">
                <a:ea typeface="+mn-lt"/>
                <a:cs typeface="+mn-lt"/>
              </a:rPr>
              <a:t> events). </a:t>
            </a:r>
            <a:r>
              <a:rPr lang="it-IT" dirty="0" err="1">
                <a:ea typeface="+mn-lt"/>
                <a:cs typeface="+mn-lt"/>
              </a:rPr>
              <a:t>If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that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happens</a:t>
            </a:r>
            <a:r>
              <a:rPr lang="it-IT" dirty="0">
                <a:ea typeface="+mn-lt"/>
                <a:cs typeface="+mn-lt"/>
              </a:rPr>
              <a:t>, </a:t>
            </a:r>
            <a:r>
              <a:rPr lang="it-IT" dirty="0" err="1">
                <a:ea typeface="+mn-lt"/>
                <a:cs typeface="+mn-lt"/>
              </a:rPr>
              <a:t>they</a:t>
            </a:r>
            <a:r>
              <a:rPr lang="it-IT" dirty="0">
                <a:ea typeface="+mn-lt"/>
                <a:cs typeface="+mn-lt"/>
              </a:rPr>
              <a:t> can </a:t>
            </a:r>
            <a:r>
              <a:rPr lang="it-IT" dirty="0" err="1">
                <a:ea typeface="+mn-lt"/>
                <a:cs typeface="+mn-lt"/>
              </a:rPr>
              <a:t>request</a:t>
            </a:r>
            <a:r>
              <a:rPr lang="it-IT" dirty="0">
                <a:ea typeface="+mn-lt"/>
                <a:cs typeface="+mn-lt"/>
              </a:rPr>
              <a:t> information </a:t>
            </a:r>
            <a:r>
              <a:rPr lang="it-IT" dirty="0" err="1">
                <a:ea typeface="+mn-lt"/>
                <a:cs typeface="+mn-lt"/>
              </a:rPr>
              <a:t>about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their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pending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operation</a:t>
            </a:r>
            <a:r>
              <a:rPr lang="it-IT" dirty="0">
                <a:ea typeface="+mn-lt"/>
                <a:cs typeface="+mn-lt"/>
              </a:rPr>
              <a:t> (</a:t>
            </a:r>
            <a:r>
              <a:rPr lang="it-IT" dirty="0" err="1">
                <a:ea typeface="+mn-lt"/>
                <a:cs typeface="+mn-lt"/>
              </a:rPr>
              <a:t>if</a:t>
            </a:r>
            <a:r>
              <a:rPr lang="it-IT" dirty="0">
                <a:ea typeface="+mn-lt"/>
                <a:cs typeface="+mn-lt"/>
              </a:rPr>
              <a:t> </a:t>
            </a:r>
            <a:r>
              <a:rPr lang="it-IT" dirty="0" err="1">
                <a:ea typeface="+mn-lt"/>
                <a:cs typeface="+mn-lt"/>
              </a:rPr>
              <a:t>any</a:t>
            </a:r>
            <a:r>
              <a:rPr lang="it-IT" dirty="0">
                <a:ea typeface="+mn-lt"/>
                <a:cs typeface="+mn-lt"/>
              </a:rPr>
              <a:t>) from the new leader.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77587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F69ABD-2A74-2DA5-D849-181C722E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How to play with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6B3AFD-46E0-F20B-64A1-6946B52C0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create &lt;</a:t>
            </a:r>
            <a:r>
              <a:rPr lang="it-IT" dirty="0" err="1">
                <a:latin typeface="Cambria" panose="02040503050406030204" pitchFamily="18" charset="0"/>
                <a:ea typeface="Cambria" panose="02040503050406030204" pitchFamily="18" charset="0"/>
              </a:rPr>
              <a:t>queue_name</a:t>
            </a:r>
            <a:r>
              <a:rPr lang="it-IT" dirty="0">
                <a:latin typeface="Cambria" panose="02040503050406030204" pitchFamily="18" charset="0"/>
                <a:ea typeface="Cambria" panose="02040503050406030204" pitchFamily="18" charset="0"/>
              </a:rPr>
              <a:t>&gt;</a:t>
            </a:r>
          </a:p>
          <a:p>
            <a:pPr lvl="1"/>
            <a:r>
              <a:rPr lang="it-IT" dirty="0" err="1"/>
              <a:t>Creates</a:t>
            </a:r>
            <a:r>
              <a:rPr lang="it-IT" dirty="0"/>
              <a:t> a new </a:t>
            </a:r>
            <a:r>
              <a:rPr lang="it-IT" dirty="0" err="1"/>
              <a:t>queue</a:t>
            </a:r>
            <a:r>
              <a:rPr lang="it-IT" dirty="0"/>
              <a:t> with the name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/>
              <a:t>.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already</a:t>
            </a:r>
            <a:r>
              <a:rPr lang="it-IT" dirty="0"/>
              <a:t> </a:t>
            </a:r>
            <a:r>
              <a:rPr lang="it-IT" dirty="0" err="1"/>
              <a:t>present</a:t>
            </a:r>
            <a:r>
              <a:rPr lang="it-IT" dirty="0"/>
              <a:t>, 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response</a:t>
            </a:r>
            <a:r>
              <a:rPr lang="it-IT" dirty="0"/>
              <a:t>.</a:t>
            </a:r>
          </a:p>
          <a:p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append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 &lt;int_1&gt; &lt;int_2&gt; …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int_n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lvl="1"/>
            <a:r>
              <a:rPr lang="it-IT" dirty="0" err="1"/>
              <a:t>Append</a:t>
            </a:r>
            <a:r>
              <a:rPr lang="it-IT" dirty="0"/>
              <a:t> to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dirty="0"/>
              <a:t>the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values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afterwards</a:t>
            </a:r>
            <a:r>
              <a:rPr lang="it-IT" dirty="0"/>
              <a:t>, </a:t>
            </a:r>
            <a:r>
              <a:rPr lang="it-IT" dirty="0" err="1"/>
              <a:t>separated</a:t>
            </a:r>
            <a:r>
              <a:rPr lang="it-IT" dirty="0"/>
              <a:t> by a </a:t>
            </a:r>
            <a:r>
              <a:rPr lang="it-IT" dirty="0" err="1"/>
              <a:t>space</a:t>
            </a:r>
            <a:r>
              <a:rPr lang="it-IT" dirty="0"/>
              <a:t>. </a:t>
            </a:r>
          </a:p>
          <a:p>
            <a:pPr lvl="1"/>
            <a:r>
              <a:rPr lang="it-IT" dirty="0"/>
              <a:t>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unknown</a:t>
            </a:r>
            <a:r>
              <a:rPr lang="it-IT" dirty="0"/>
              <a:t>.</a:t>
            </a:r>
          </a:p>
          <a:p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read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&lt;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</a:p>
          <a:p>
            <a:pPr lvl="1"/>
            <a:r>
              <a:rPr lang="it-IT" dirty="0"/>
              <a:t>Read </a:t>
            </a:r>
            <a:r>
              <a:rPr lang="it-IT" dirty="0" err="1"/>
              <a:t>all</a:t>
            </a:r>
            <a:r>
              <a:rPr lang="it-IT" dirty="0"/>
              <a:t> the </a:t>
            </a:r>
            <a:r>
              <a:rPr lang="it-IT" dirty="0" err="1"/>
              <a:t>values</a:t>
            </a:r>
            <a:r>
              <a:rPr lang="it-IT" dirty="0"/>
              <a:t> from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specified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</a:t>
            </a:r>
            <a:r>
              <a:rPr lang="it-IT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queue_name</a:t>
            </a:r>
            <a:r>
              <a:rPr lang="it-IT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it-IT" dirty="0" err="1"/>
              <a:t>that</a:t>
            </a:r>
            <a:r>
              <a:rPr lang="it-IT" dirty="0"/>
              <a:t> are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yet</a:t>
            </a:r>
            <a:r>
              <a:rPr lang="it-IT" dirty="0"/>
              <a:t> </a:t>
            </a:r>
            <a:r>
              <a:rPr lang="it-IT" dirty="0" err="1"/>
              <a:t>read</a:t>
            </a:r>
            <a:r>
              <a:rPr lang="it-IT" dirty="0"/>
              <a:t> by the client.</a:t>
            </a:r>
          </a:p>
          <a:p>
            <a:pPr lvl="1"/>
            <a:r>
              <a:rPr lang="it-IT" dirty="0"/>
              <a:t>A warning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returned</a:t>
            </a:r>
            <a:r>
              <a:rPr lang="it-IT" dirty="0"/>
              <a:t> in case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unknown</a:t>
            </a:r>
            <a:r>
              <a:rPr lang="it-IT" dirty="0"/>
              <a:t> or </a:t>
            </a:r>
            <a:r>
              <a:rPr lang="it-IT" dirty="0" err="1"/>
              <a:t>if</a:t>
            </a:r>
            <a:r>
              <a:rPr lang="it-IT" dirty="0"/>
              <a:t> no new </a:t>
            </a:r>
            <a:r>
              <a:rPr lang="it-IT" dirty="0" err="1"/>
              <a:t>elements</a:t>
            </a:r>
            <a:r>
              <a:rPr lang="it-IT" dirty="0"/>
              <a:t> from the </a:t>
            </a:r>
            <a:r>
              <a:rPr lang="it-IT" dirty="0" err="1"/>
              <a:t>queue</a:t>
            </a:r>
            <a:r>
              <a:rPr lang="it-IT" dirty="0"/>
              <a:t> </a:t>
            </a:r>
            <a:r>
              <a:rPr lang="it-IT" dirty="0" err="1"/>
              <a:t>need</a:t>
            </a:r>
            <a:r>
              <a:rPr lang="it-IT" dirty="0"/>
              <a:t> to be </a:t>
            </a:r>
            <a:r>
              <a:rPr lang="it-IT" dirty="0" err="1"/>
              <a:t>read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2348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044361-9314-E206-27F5-289DA3FA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References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B2A3DC9-E5DA-5EC0-BAD1-763225B59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D. </a:t>
            </a:r>
            <a:r>
              <a:rPr lang="en-US" dirty="0" err="1"/>
              <a:t>Ongaro</a:t>
            </a:r>
            <a:r>
              <a:rPr lang="en-US" dirty="0"/>
              <a:t>, J. </a:t>
            </a:r>
            <a:r>
              <a:rPr lang="en-US" dirty="0" err="1"/>
              <a:t>Ousterhout</a:t>
            </a:r>
            <a:r>
              <a:rPr lang="en-US" dirty="0"/>
              <a:t> </a:t>
            </a:r>
            <a:r>
              <a:rPr lang="en-US" i="1" dirty="0"/>
              <a:t>“In Search of an Understandable Consensus Algorithm”</a:t>
            </a:r>
            <a:r>
              <a:rPr lang="en-US" dirty="0"/>
              <a:t> USENIX Annual Technical Conference, 2014: </a:t>
            </a:r>
            <a:r>
              <a:rPr lang="en-US" dirty="0">
                <a:hlinkClick r:id="rId2"/>
              </a:rPr>
              <a:t>https://raft.github.io/</a:t>
            </a:r>
            <a:endParaRPr lang="it-IT" dirty="0"/>
          </a:p>
          <a:p>
            <a:r>
              <a:rPr lang="it-IT" dirty="0"/>
              <a:t>Martin </a:t>
            </a:r>
            <a:r>
              <a:rPr lang="it-IT" dirty="0" err="1"/>
              <a:t>Kleppmann’s</a:t>
            </a:r>
            <a:r>
              <a:rPr lang="it-IT" dirty="0"/>
              <a:t> </a:t>
            </a:r>
            <a:r>
              <a:rPr lang="it-IT" dirty="0" err="1"/>
              <a:t>lecture</a:t>
            </a:r>
            <a:r>
              <a:rPr lang="it-IT" dirty="0"/>
              <a:t> on Raft </a:t>
            </a:r>
            <a:r>
              <a:rPr lang="it-IT" dirty="0" err="1"/>
              <a:t>protocol</a:t>
            </a:r>
            <a:r>
              <a:rPr lang="it-IT" dirty="0"/>
              <a:t>: </a:t>
            </a:r>
            <a:r>
              <a:rPr lang="it-IT" dirty="0">
                <a:hlinkClick r:id="rId3"/>
              </a:rPr>
              <a:t>https://www.youtube.com/watch?v=uXEYuDwm7e4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06441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732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Tema di Office</vt:lpstr>
      <vt:lpstr>Distributed Systems Reliable Queueing Platform</vt:lpstr>
      <vt:lpstr>Project goal</vt:lpstr>
      <vt:lpstr>Assumptions</vt:lpstr>
      <vt:lpstr>Network architecture: locator</vt:lpstr>
      <vt:lpstr>Network architecture: brokers</vt:lpstr>
      <vt:lpstr>Network architecture: client</vt:lpstr>
      <vt:lpstr>(Modified) Raft</vt:lpstr>
      <vt:lpstr>Application features </vt:lpstr>
      <vt:lpstr>How to play with the project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 Reliable Queueing Platform</dc:title>
  <dc:creator>Matteo Figini</dc:creator>
  <cp:lastModifiedBy>Matteo Figini</cp:lastModifiedBy>
  <cp:revision>54</cp:revision>
  <dcterms:created xsi:type="dcterms:W3CDTF">2024-09-01T17:13:37Z</dcterms:created>
  <dcterms:modified xsi:type="dcterms:W3CDTF">2024-09-02T14:12:24Z</dcterms:modified>
</cp:coreProperties>
</file>